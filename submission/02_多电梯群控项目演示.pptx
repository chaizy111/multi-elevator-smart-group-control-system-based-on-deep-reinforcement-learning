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c296422f4d4438" /><Relationship Type="http://schemas.openxmlformats.org/officeDocument/2006/relationships/extended-properties" Target="/docProps/app.xml" Id="R9c448e8a1cf44676" /><Relationship Type="http://schemas.openxmlformats.org/officeDocument/2006/relationships/officeDocument" Target="/ppt/presentation.xml" Id="R6a0bdfadfe3f49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c6d4db341145eb"/>
  </p:sldMasterIdLst>
  <p:notesMasterIdLst>
    <p:notesMasterId xmlns:r="http://schemas.openxmlformats.org/officeDocument/2006/relationships" r:id="R18b9fe4084a143ce"/>
  </p:notesMasterIdLst>
  <p:sldIdLst>
    <p:sldId xmlns:r="http://schemas.openxmlformats.org/officeDocument/2006/relationships" id="256" r:id="Ra02b293e762840a8"/>
    <p:sldId xmlns:r="http://schemas.openxmlformats.org/officeDocument/2006/relationships" id="257" r:id="R087e5f06d9194853"/>
    <p:sldId xmlns:r="http://schemas.openxmlformats.org/officeDocument/2006/relationships" id="258" r:id="R1cb83237ff014bdb"/>
    <p:sldId xmlns:r="http://schemas.openxmlformats.org/officeDocument/2006/relationships" id="259" r:id="R1bf57333d7374598"/>
    <p:sldId xmlns:r="http://schemas.openxmlformats.org/officeDocument/2006/relationships" id="260" r:id="R2882b0227dd74261"/>
    <p:sldId xmlns:r="http://schemas.openxmlformats.org/officeDocument/2006/relationships" id="261" r:id="R81193b1a28ee4c5f"/>
    <p:sldId xmlns:r="http://schemas.openxmlformats.org/officeDocument/2006/relationships" id="262" r:id="R863ef21d59dd4fa3"/>
    <p:sldId xmlns:r="http://schemas.openxmlformats.org/officeDocument/2006/relationships" id="263" r:id="Re73c98a83d9342a1"/>
    <p:sldId xmlns:r="http://schemas.openxmlformats.org/officeDocument/2006/relationships" id="264" r:id="R4a5e9ba1287c4c97"/>
    <p:sldId xmlns:r="http://schemas.openxmlformats.org/officeDocument/2006/relationships" id="265" r:id="R8e8b29c33a5b49cd"/>
    <p:sldId xmlns:r="http://schemas.openxmlformats.org/officeDocument/2006/relationships" id="266" r:id="R0aa378eddd8c4123"/>
    <p:sldId xmlns:r="http://schemas.openxmlformats.org/officeDocument/2006/relationships" id="267" r:id="R7f9baca698274e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6d4db341145eb" /><Relationship Type="http://schemas.openxmlformats.org/officeDocument/2006/relationships/theme" Target="/ppt/theme/theme1.xml" Id="R5f97e254916c4b59" /><Relationship Type="http://schemas.openxmlformats.org/officeDocument/2006/relationships/notesMaster" Target="/ppt/notesMasters/notesMaster1.xml" Id="R18b9fe4084a143ce" /><Relationship Type="http://schemas.openxmlformats.org/officeDocument/2006/relationships/presProps" Target="/ppt/presProps.xml" Id="R864ee34704ef440d" /><Relationship Type="http://schemas.openxmlformats.org/officeDocument/2006/relationships/viewProps" Target="/ppt/viewProps.xml" Id="R5b21e7a93ddd41f9" /><Relationship Type="http://schemas.openxmlformats.org/officeDocument/2006/relationships/tableStyles" Target="/ppt/tableStyles.xml" Id="Rfbcbb9a96145496e" /><Relationship Type="http://schemas.openxmlformats.org/officeDocument/2006/relationships/slide" Target="/ppt/slides/slide1.xml" Id="Ra02b293e762840a8" /><Relationship Type="http://schemas.openxmlformats.org/officeDocument/2006/relationships/slide" Target="/ppt/slides/slide2.xml" Id="R087e5f06d9194853" /><Relationship Type="http://schemas.openxmlformats.org/officeDocument/2006/relationships/slide" Target="/ppt/slides/slide3.xml" Id="R1cb83237ff014bdb" /><Relationship Type="http://schemas.openxmlformats.org/officeDocument/2006/relationships/slide" Target="/ppt/slides/slide4.xml" Id="R1bf57333d7374598" /><Relationship Type="http://schemas.openxmlformats.org/officeDocument/2006/relationships/slide" Target="/ppt/slides/slide5.xml" Id="R2882b0227dd74261" /><Relationship Type="http://schemas.openxmlformats.org/officeDocument/2006/relationships/slide" Target="/ppt/slides/slide6.xml" Id="R81193b1a28ee4c5f" /><Relationship Type="http://schemas.openxmlformats.org/officeDocument/2006/relationships/slide" Target="/ppt/slides/slide7.xml" Id="R863ef21d59dd4fa3" /><Relationship Type="http://schemas.openxmlformats.org/officeDocument/2006/relationships/slide" Target="/ppt/slides/slide8.xml" Id="Re73c98a83d9342a1" /><Relationship Type="http://schemas.openxmlformats.org/officeDocument/2006/relationships/slide" Target="/ppt/slides/slide9.xml" Id="R4a5e9ba1287c4c97" /><Relationship Type="http://schemas.openxmlformats.org/officeDocument/2006/relationships/slide" Target="/ppt/slides/slide10.xml" Id="R8e8b29c33a5b49cd" /><Relationship Type="http://schemas.openxmlformats.org/officeDocument/2006/relationships/slide" Target="/ppt/slides/slide11.xml" Id="R0aa378eddd8c4123" /><Relationship Type="http://schemas.openxmlformats.org/officeDocument/2006/relationships/slide" Target="/ppt/slides/slide12.xml" Id="R7f9baca698274e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5bea686d87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706a2748b47b9" /><Relationship Type="http://schemas.openxmlformats.org/officeDocument/2006/relationships/notesMaster" Target="/ppt/notesMasters/notesMaster1.xml" Id="R945ce55d10b849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4c5ff8a034e10" /><Relationship Type="http://schemas.openxmlformats.org/officeDocument/2006/relationships/notesMaster" Target="/ppt/notesMasters/notesMaster1.xml" Id="Rf3bf75a42e474b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ad6c494324591" /><Relationship Type="http://schemas.openxmlformats.org/officeDocument/2006/relationships/notesMaster" Target="/ppt/notesMasters/notesMaster1.xml" Id="R8d53de676d3947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bdc30ca89b49af" /><Relationship Type="http://schemas.openxmlformats.org/officeDocument/2006/relationships/notesMaster" Target="/ppt/notesMasters/notesMaster1.xml" Id="R7a845cd80aa94c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04440ea71e4234" /><Relationship Type="http://schemas.openxmlformats.org/officeDocument/2006/relationships/notesMaster" Target="/ppt/notesMasters/notesMaster1.xml" Id="R623809fc443b47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a1f55d8834f7d" /><Relationship Type="http://schemas.openxmlformats.org/officeDocument/2006/relationships/notesMaster" Target="/ppt/notesMasters/notesMaster1.xml" Id="R00b75c34204d47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7b0c2c1d004357" /><Relationship Type="http://schemas.openxmlformats.org/officeDocument/2006/relationships/notesMaster" Target="/ppt/notesMasters/notesMaster1.xml" Id="R0958ddc166b04c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4494027e8f4040" /><Relationship Type="http://schemas.openxmlformats.org/officeDocument/2006/relationships/notesMaster" Target="/ppt/notesMasters/notesMaster1.xml" Id="R81e23ccea2bc4f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3e59c2e166479c" /><Relationship Type="http://schemas.openxmlformats.org/officeDocument/2006/relationships/notesMaster" Target="/ppt/notesMasters/notesMaster1.xml" Id="Raefdc0d534a746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543d4220394d74" /><Relationship Type="http://schemas.openxmlformats.org/officeDocument/2006/relationships/notesMaster" Target="/ppt/notesMasters/notesMaster1.xml" Id="R515ae494bd4047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28bbaca1cb42b6" /><Relationship Type="http://schemas.openxmlformats.org/officeDocument/2006/relationships/notesMaster" Target="/ppt/notesMasters/notesMaster1.xml" Id="Rbfc14503864b4f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eb391d843c4f1c" /><Relationship Type="http://schemas.openxmlformats.org/officeDocument/2006/relationships/notesMaster" Target="/ppt/notesMasters/notesMaster1.xml" Id="R189501e5e7c24c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6a51255c743d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34e25a053dc4349" /><Relationship Type="http://schemas.openxmlformats.org/officeDocument/2006/relationships/slideLayout" Target="/ppt/slideLayouts/slideLayout2.xml" Id="Raa46074d8cc845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6074d8cc845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0919489304971" /><Relationship Type="http://schemas.openxmlformats.org/officeDocument/2006/relationships/notesSlide" Target="/ppt/notesSlides/notesSlide1.xml" Id="R8faa8ba64d08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572e635fa84b1f" /><Relationship Type="http://schemas.openxmlformats.org/officeDocument/2006/relationships/notesSlide" Target="/ppt/notesSlides/notesSlide2.xml" Id="Rd75d55eeda214d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59e63004d4931" /><Relationship Type="http://schemas.openxmlformats.org/officeDocument/2006/relationships/notesSlide" Target="/ppt/notesSlides/notesSlide3.xml" Id="Rb6fc03d1c0ad40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6f5e813ffe4221" /><Relationship Type="http://schemas.openxmlformats.org/officeDocument/2006/relationships/notesSlide" Target="/ppt/notesSlides/notesSlide4.xml" Id="R476b8741f7c244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044ec3c3884bcb" /><Relationship Type="http://schemas.openxmlformats.org/officeDocument/2006/relationships/notesSlide" Target="/ppt/notesSlides/notesSlide5.xml" Id="R55de3aa2cd964f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cc9f9fe3da4283" /><Relationship Type="http://schemas.openxmlformats.org/officeDocument/2006/relationships/notesSlide" Target="/ppt/notesSlides/notesSlide6.xml" Id="R6b12676e3bca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2258cd2129418e" /><Relationship Type="http://schemas.openxmlformats.org/officeDocument/2006/relationships/notesSlide" Target="/ppt/notesSlides/notesSlide7.xml" Id="R763e9d048cbe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6d8eaa7cf241e5" /><Relationship Type="http://schemas.openxmlformats.org/officeDocument/2006/relationships/notesSlide" Target="/ppt/notesSlides/notesSlide8.xml" Id="R57424fabf3674d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b08afc66f94559" /><Relationship Type="http://schemas.openxmlformats.org/officeDocument/2006/relationships/image" Target="/ppt/media/image.png" Id="Reef357811a8a44bb" /><Relationship Type="http://schemas.openxmlformats.org/officeDocument/2006/relationships/notesSlide" Target="/ppt/notesSlides/notesSlide9.xml" Id="R1ebdda9fb6c142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546c79ab914abe" /><Relationship Type="http://schemas.openxmlformats.org/officeDocument/2006/relationships/image" Target="/ppt/media/image2.png" Id="R95ecad38740f4874" /><Relationship Type="http://schemas.openxmlformats.org/officeDocument/2006/relationships/notesSlide" Target="/ppt/notesSlides/notesSlide10.xml" Id="R64afd8f71c4744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e9d2fb4ca34212" /><Relationship Type="http://schemas.openxmlformats.org/officeDocument/2006/relationships/notesSlide" Target="/ppt/notesSlides/notesSlide11.xml" Id="R623da5fb2d084f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0ddf9bf9fc49f4" /><Relationship Type="http://schemas.openxmlformats.org/officeDocument/2006/relationships/notesSlide" Target="/ppt/notesSlides/notesSlide12.xml" Id="R138af60790d1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1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84A8252-F2A6-4990-8187-12F60BC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D22F55-741F-45BC-9A35-1C2BD09C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DEEP REINFORCEMENT LEARNING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F70C12F-C90B-4A92-AC3E-7457C597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 PPO 看见接单的后果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862DF4-4414-4393-90F5-3F10869E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66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31FC088-D20B-4FF0-9D66-D554A505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ED327ED2-A286-40AD-8F98-C439F914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C3026A8-5476-44B5-975B-21E79DD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基于深度强化学习的多电梯智能群控系统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17F386-3640-4D9C-9E97-B152077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13.14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4B44C7-F67B-405F-8297-E3A09C44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5238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秒 · 提交801的开发平均等待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DB4C0CA2-15A2-4932-998A-C2EB73A0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19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5AFA5E7-ACEE-4CB7-A5A5-26F94FCE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4572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统一仿真  →  真实PPO  →  同流验证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477DA6F-A438-4E21-A4D2-7B9BF00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14800"/>
            <a:ext cx="4572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135组开发客流 · 单模型结果</a:t>
            </a:r>
          </a:p>
          <a:p xmlns:a="http://schemas.openxmlformats.org/drawingml/2006/main">
            <a:pPr>
              <a:defRPr sz="165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不作为独立盲测结论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AF9D3E5-E962-49A9-911B-0100FD4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小组：____________    成员：________________________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41904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FBB6C6-7DCC-4D60-BCCC-298CB5F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5D1844-29F9-486F-A5C5-7B5AEA7C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8A83FD2-477F-42D8-999F-26CFCD86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相同接人时间，可能对应完全不同的任务延误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9526FC-B9DD-4815-AADC-76DBA2FA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1D7EADB-BB7E-429B-8AB2-FA6388B4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8C15232-C33A-4F1B-9905-8F48D233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A6A2734-365D-447D-9CBE-5FFD25C2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53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两梯在1层；第一台已有1→5层任务；新请求为2→3层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4CA7075C-E72F-47AD-A43C-ABB1BAE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143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7B5951-0151-4AE9-BD80-CD3F7D1D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35E4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C35E42"/>
                </a:solidFill>
                <a:latin typeface="PingFang SC"/>
                <a:ea typeface="PingFang SC"/>
                <a:cs typeface="PingFang SC"/>
              </a:rPr>
              <a:t>派给已有任务的第一台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CCE542-183F-40E6-A92C-A8F36259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7625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4.8 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D2558E7-553F-4F84-85DE-22C89DE3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新乘客接到时间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D7924F3E-3B00-4E44-A5A0-F25A180C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14600"/>
            <a:ext cx="51435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B06A3D2-DE48-457C-98C8-E87CA25B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241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派给空闲的第二台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DC4C4A-E2EF-4D92-BAC5-4B4A433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47625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4.8 秒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CD4C25-2337-4F77-A605-BF2DFA9F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29075"/>
            <a:ext cx="4762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新乘客接到时间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25E80BF-026B-45EE-AE5B-39236B42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7148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35E4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35E42"/>
                </a:solidFill>
                <a:latin typeface="PingFang SC"/>
                <a:ea typeface="PingFang SC"/>
                <a:cs typeface="PingFang SC"/>
              </a:rPr>
              <a:t>旧乘客：接人 +8.8秒，送达 +13.6秒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17EC929-44BA-48B9-8E98-0834102C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667250"/>
            <a:ext cx="466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已有任务不产生新增延误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70B69035-7E42-4A90-BFF1-83D8A160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独立手算回归：默认物理参数；第一台插入路线2→1→3→5。ETA本身不能表达全部外部性。</a:t>
            </a:r>
          </a:p>
        </p:txBody>
      </p:sp>
    </p:spTree>
    <p:extLst>
      <p:ext uri="{BB962C8B-B14F-4D97-AF65-F5344CB8AC3E}">
        <p14:creationId xmlns:p14="http://schemas.microsoft.com/office/powerpoint/2010/main" val="475330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E2862FA-21DA-4910-B484-07D71827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02879B-AD35-4C0A-92BC-DE38104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REQUIREMENTS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FEF4B6E-C2BB-459C-96D9-D317F49C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四个页面覆盖配置、运行、比较和训练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05E01F-C5C5-4B63-8601-8CBD19F4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E823819-1FC1-406F-80B7-627050A0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B347371-7089-447D-9651-BB68D3F1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module">
            <a:extLst xmlns:a="http://schemas.openxmlformats.org/drawingml/2006/main">
              <a:ext uri="{FF2B5EF4-FFF2-40B4-BE49-F238E27FC236}">
                <a16:creationId xmlns:a16="http://schemas.microsoft.com/office/drawing/2014/main" id="{5FE44805-B4A9-46DA-A38C-EF9CCFA9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8" name="module-name">
            <a:extLst xmlns:a="http://schemas.openxmlformats.org/drawingml/2006/main">
              <a:ext uri="{FF2B5EF4-FFF2-40B4-BE49-F238E27FC236}">
                <a16:creationId xmlns:a16="http://schemas.microsoft.com/office/drawing/2014/main" id="{3A3FC870-D1FD-4480-BD20-2DC2C8AD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场景配置</a:t>
            </a:r>
          </a:p>
        </p:txBody>
      </p:sp>
      <p:sp>
        <p:nvSpPr>
          <p:cNvPr id="9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1DD7C1DD-F01D-4ADF-B1AB-6118D36D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建筑 / 客流 / 输入Trace</a:t>
            </a:r>
          </a:p>
        </p:txBody>
      </p:sp>
      <p:sp>
        <p:nvSpPr>
          <p:cNvPr id="10" name="connector">
            <a:extLst xmlns:a="http://schemas.openxmlformats.org/drawingml/2006/main">
              <a:ext uri="{FF2B5EF4-FFF2-40B4-BE49-F238E27FC236}">
                <a16:creationId xmlns:a16="http://schemas.microsoft.com/office/drawing/2014/main" id="{4107B20C-BB85-4B4B-AFD7-B798C079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5750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1" name="module">
            <a:extLst xmlns:a="http://schemas.openxmlformats.org/drawingml/2006/main">
              <a:ext uri="{FF2B5EF4-FFF2-40B4-BE49-F238E27FC236}">
                <a16:creationId xmlns:a16="http://schemas.microsoft.com/office/drawing/2014/main" id="{DF992B07-0AE9-408B-AF0E-C66D4296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2" name="module-name">
            <a:extLst xmlns:a="http://schemas.openxmlformats.org/drawingml/2006/main">
              <a:ext uri="{FF2B5EF4-FFF2-40B4-BE49-F238E27FC236}">
                <a16:creationId xmlns:a16="http://schemas.microsoft.com/office/drawing/2014/main" id="{4E0D87FA-AB7C-49F6-B761-E3734F82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实时仿真</a:t>
            </a:r>
          </a:p>
        </p:txBody>
      </p:sp>
      <p:sp>
        <p:nvSpPr>
          <p:cNvPr id="13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D41C614A-3401-4663-9E52-CAB97490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暂停 / 继续 / 乘客与决策</a:t>
            </a:r>
          </a:p>
        </p:txBody>
      </p:sp>
      <p:sp>
        <p:nvSpPr>
          <p:cNvPr id="14" name="connector">
            <a:extLst xmlns:a="http://schemas.openxmlformats.org/drawingml/2006/main">
              <a:ext uri="{FF2B5EF4-FFF2-40B4-BE49-F238E27FC236}">
                <a16:creationId xmlns:a16="http://schemas.microsoft.com/office/drawing/2014/main" id="{A4DCFA9F-CECD-4AF6-AB6C-2B017777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5" name="module">
            <a:extLst xmlns:a="http://schemas.openxmlformats.org/drawingml/2006/main">
              <a:ext uri="{FF2B5EF4-FFF2-40B4-BE49-F238E27FC236}">
                <a16:creationId xmlns:a16="http://schemas.microsoft.com/office/drawing/2014/main" id="{F6DB335F-7934-4F25-B6EA-1C914775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6" name="module-name">
            <a:extLst xmlns:a="http://schemas.openxmlformats.org/drawingml/2006/main">
              <a:ext uri="{FF2B5EF4-FFF2-40B4-BE49-F238E27FC236}">
                <a16:creationId xmlns:a16="http://schemas.microsoft.com/office/drawing/2014/main" id="{A3B86DA7-9CE0-4B97-B7CC-3B8CEA2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实验评价</a:t>
            </a:r>
          </a:p>
        </p:txBody>
      </p:sp>
      <p:sp>
        <p:nvSpPr>
          <p:cNvPr id="17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79FC885C-F39C-4FE7-8528-E3FE7DA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同流比较 / 指标与原始表</a:t>
            </a:r>
          </a:p>
        </p:txBody>
      </p:sp>
      <p:sp>
        <p:nvSpPr>
          <p:cNvPr id="18" name="connector">
            <a:extLst xmlns:a="http://schemas.openxmlformats.org/drawingml/2006/main">
              <a:ext uri="{FF2B5EF4-FFF2-40B4-BE49-F238E27FC236}">
                <a16:creationId xmlns:a16="http://schemas.microsoft.com/office/drawing/2014/main" id="{BBBC15AA-8AC3-4AF2-AE4F-9BC309D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5750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9" name="module">
            <a:extLst xmlns:a="http://schemas.openxmlformats.org/drawingml/2006/main">
              <a:ext uri="{FF2B5EF4-FFF2-40B4-BE49-F238E27FC236}">
                <a16:creationId xmlns:a16="http://schemas.microsoft.com/office/drawing/2014/main" id="{6F41AB04-03B0-4180-8FFA-22CFFE8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20" name="module-name">
            <a:extLst xmlns:a="http://schemas.openxmlformats.org/drawingml/2006/main">
              <a:ext uri="{FF2B5EF4-FFF2-40B4-BE49-F238E27FC236}">
                <a16:creationId xmlns:a16="http://schemas.microsoft.com/office/drawing/2014/main" id="{408AA9F9-DB63-45A2-9E8C-DA96C415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训练与模型</a:t>
            </a:r>
          </a:p>
        </p:txBody>
      </p:sp>
      <p:sp>
        <p:nvSpPr>
          <p:cNvPr id="21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AE57097C-9988-4DE2-AC33-FD924F16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真实曲线 / 版本与权重SHA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F80B805-8C2D-4100-A08D-21235ED7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66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5–30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E4D739A-7C46-4176-ABA9-8674F817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667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层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BF98A05-7DC3-4040-856C-048E24F7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38625"/>
            <a:ext cx="266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2–8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FF7B84F-54FB-44F7-B5DA-DD44A19E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3476625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部电梯 · 容量6–20人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E7B22D-1CBF-4641-BF86-808076A0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38625"/>
            <a:ext cx="266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9F6357D-CBA1-4A26-8140-D9F82ED5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00625"/>
            <a:ext cx="32385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种客流模式</a:t>
            </a:r>
          </a:p>
        </p:txBody>
      </p:sp>
      <p:sp>
        <p:nvSpPr>
          <p:cNvPr id="28" name="source">
            <a:extLst xmlns:a="http://schemas.openxmlformats.org/drawingml/2006/main">
              <a:ext uri="{FF2B5EF4-FFF2-40B4-BE49-F238E27FC236}">
                <a16:creationId xmlns:a16="http://schemas.microsoft.com/office/drawing/2014/main" id="{D169D51F-CA1B-45E4-82E9-6EA65494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本地教学仿真；普通CPU运行已提供模型。所有策略共享物理内核与不可变乘客流。</a:t>
            </a:r>
          </a:p>
        </p:txBody>
      </p:sp>
    </p:spTree>
    <p:extLst>
      <p:ext uri="{BB962C8B-B14F-4D97-AF65-F5344CB8AC3E}">
        <p14:creationId xmlns:p14="http://schemas.microsoft.com/office/powerpoint/2010/main" val="537766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829E44-2B49-43DE-BAA6-CF98B527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25CE66D-95A1-4B33-8CF4-DB74DE23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3FA1B48-54D5-4975-8DF7-A042C60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物理、策略、评价与界面各有明确边界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A6B03AE-0D0A-46C7-B22B-B5A3D3F5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2014D1-8D01-4BB9-9107-6217A492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896FC22-8F74-433E-9025-4FD0C29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module">
            <a:extLst xmlns:a="http://schemas.openxmlformats.org/drawingml/2006/main">
              <a:ext uri="{FF2B5EF4-FFF2-40B4-BE49-F238E27FC236}">
                <a16:creationId xmlns:a16="http://schemas.microsoft.com/office/drawing/2014/main" id="{3F656A8A-938D-4090-A98A-F14E7E7C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8" name="module-name">
            <a:extLst xmlns:a="http://schemas.openxmlformats.org/drawingml/2006/main">
              <a:ext uri="{FF2B5EF4-FFF2-40B4-BE49-F238E27FC236}">
                <a16:creationId xmlns:a16="http://schemas.microsoft.com/office/drawing/2014/main" id="{3D83EF1F-5C04-4BF2-B90E-0AAD99B5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配置与Trace</a:t>
            </a:r>
          </a:p>
        </p:txBody>
      </p:sp>
      <p:sp>
        <p:nvSpPr>
          <p:cNvPr id="9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EB9ED0E8-0CF8-4B1A-A8B7-489481A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33675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严格校验 / 独立随机流</a:t>
            </a:r>
          </a:p>
        </p:txBody>
      </p:sp>
      <p:sp>
        <p:nvSpPr>
          <p:cNvPr id="10" name="module">
            <a:extLst xmlns:a="http://schemas.openxmlformats.org/drawingml/2006/main">
              <a:ext uri="{FF2B5EF4-FFF2-40B4-BE49-F238E27FC236}">
                <a16:creationId xmlns:a16="http://schemas.microsoft.com/office/drawing/2014/main" id="{A3AC69A6-7BEF-401B-A133-37D4A364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1" name="module-name">
            <a:extLst xmlns:a="http://schemas.openxmlformats.org/drawingml/2006/main">
              <a:ext uri="{FF2B5EF4-FFF2-40B4-BE49-F238E27FC236}">
                <a16:creationId xmlns:a16="http://schemas.microsoft.com/office/drawing/2014/main" id="{92932725-AAE9-4F2B-B50B-D66107DD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事件仿真</a:t>
            </a:r>
          </a:p>
        </p:txBody>
      </p:sp>
      <p:sp>
        <p:nvSpPr>
          <p:cNvPr id="12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71373AE6-3075-47E7-95A0-88928FAA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整数微秒 / 容量与路线</a:t>
            </a:r>
          </a:p>
        </p:txBody>
      </p:sp>
      <p:sp>
        <p:nvSpPr>
          <p:cNvPr id="13" name="module">
            <a:extLst xmlns:a="http://schemas.openxmlformats.org/drawingml/2006/main">
              <a:ext uri="{FF2B5EF4-FFF2-40B4-BE49-F238E27FC236}">
                <a16:creationId xmlns:a16="http://schemas.microsoft.com/office/drawing/2014/main" id="{1DE1738C-D068-4AD7-B393-E53E35E7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43125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4" name="module-name">
            <a:extLst xmlns:a="http://schemas.openxmlformats.org/drawingml/2006/main">
              <a:ext uri="{FF2B5EF4-FFF2-40B4-BE49-F238E27FC236}">
                <a16:creationId xmlns:a16="http://schemas.microsoft.com/office/drawing/2014/main" id="{A1EA00C2-B08C-43C4-AD9B-984DC69E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14575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控制器</a:t>
            </a:r>
          </a:p>
        </p:txBody>
      </p:sp>
      <p:sp>
        <p:nvSpPr>
          <p:cNvPr id="15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0BC2A814-B54A-4640-8089-9B0C2CF7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三经典 / PPO / 合法mask</a:t>
            </a:r>
          </a:p>
        </p:txBody>
      </p:sp>
      <p:sp>
        <p:nvSpPr>
          <p:cNvPr id="16" name="module">
            <a:extLst xmlns:a="http://schemas.openxmlformats.org/drawingml/2006/main">
              <a:ext uri="{FF2B5EF4-FFF2-40B4-BE49-F238E27FC236}">
                <a16:creationId xmlns:a16="http://schemas.microsoft.com/office/drawing/2014/main" id="{0D88B858-2DBE-457B-9A5A-15ADC590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7" name="module-name">
            <a:extLst xmlns:a="http://schemas.openxmlformats.org/drawingml/2006/main">
              <a:ext uri="{FF2B5EF4-FFF2-40B4-BE49-F238E27FC236}">
                <a16:creationId xmlns:a16="http://schemas.microsoft.com/office/drawing/2014/main" id="{13FA4037-4A17-484C-A07E-94A7AAB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归档与指标</a:t>
            </a:r>
          </a:p>
        </p:txBody>
      </p:sp>
      <p:sp>
        <p:nvSpPr>
          <p:cNvPr id="18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AC62749F-CD65-4867-A16C-52A691F5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乘客 / 决策 / 完整cohort</a:t>
            </a:r>
          </a:p>
        </p:txBody>
      </p:sp>
      <p:sp>
        <p:nvSpPr>
          <p:cNvPr id="19" name="module">
            <a:extLst xmlns:a="http://schemas.openxmlformats.org/drawingml/2006/main">
              <a:ext uri="{FF2B5EF4-FFF2-40B4-BE49-F238E27FC236}">
                <a16:creationId xmlns:a16="http://schemas.microsoft.com/office/drawing/2014/main" id="{C4572876-3294-4F1A-B580-5FBB77B2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20" name="module-name">
            <a:extLst xmlns:a="http://schemas.openxmlformats.org/drawingml/2006/main">
              <a:ext uri="{FF2B5EF4-FFF2-40B4-BE49-F238E27FC236}">
                <a16:creationId xmlns:a16="http://schemas.microsoft.com/office/drawing/2014/main" id="{2F7012A2-B620-44B1-9390-A11CE504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API与worker</a:t>
            </a:r>
          </a:p>
        </p:txBody>
      </p:sp>
      <p:sp>
        <p:nvSpPr>
          <p:cNvPr id="21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3F491571-7D4B-43D1-9753-532F3768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81550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作业协调 / HTTP与WS</a:t>
            </a:r>
          </a:p>
        </p:txBody>
      </p:sp>
      <p:sp>
        <p:nvSpPr>
          <p:cNvPr id="22" name="module">
            <a:extLst xmlns:a="http://schemas.openxmlformats.org/drawingml/2006/main">
              <a:ext uri="{FF2B5EF4-FFF2-40B4-BE49-F238E27FC236}">
                <a16:creationId xmlns:a16="http://schemas.microsoft.com/office/drawing/2014/main" id="{71C28088-9602-40C0-9A57-7388ABF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1000"/>
            <a:ext cx="3333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23" name="module-name">
            <a:extLst xmlns:a="http://schemas.openxmlformats.org/drawingml/2006/main">
              <a:ext uri="{FF2B5EF4-FFF2-40B4-BE49-F238E27FC236}">
                <a16:creationId xmlns:a16="http://schemas.microsoft.com/office/drawing/2014/main" id="{339CC19A-4C64-4ED3-99E4-3C613F11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62450"/>
            <a:ext cx="2990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Web工作台</a:t>
            </a:r>
          </a:p>
        </p:txBody>
      </p:sp>
      <p:sp>
        <p:nvSpPr>
          <p:cNvPr id="24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1D250C34-D60C-4AAD-8B4F-94492A5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81550"/>
            <a:ext cx="29908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服务端状态 / 图表与导出</a:t>
            </a:r>
          </a:p>
        </p:txBody>
      </p:sp>
      <p:sp>
        <p:nvSpPr>
          <p:cNvPr id="25" name="connector">
            <a:extLst xmlns:a="http://schemas.openxmlformats.org/drawingml/2006/main">
              <a:ext uri="{FF2B5EF4-FFF2-40B4-BE49-F238E27FC236}">
                <a16:creationId xmlns:a16="http://schemas.microsoft.com/office/drawing/2014/main" id="{45E69464-00A3-488B-8A82-DA4C32E2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860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26" name="connector">
            <a:extLst xmlns:a="http://schemas.openxmlformats.org/drawingml/2006/main">
              <a:ext uri="{FF2B5EF4-FFF2-40B4-BE49-F238E27FC236}">
                <a16:creationId xmlns:a16="http://schemas.microsoft.com/office/drawing/2014/main" id="{95BC5723-15C7-4309-8967-4854BF3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43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27" name="connector">
            <a:extLst xmlns:a="http://schemas.openxmlformats.org/drawingml/2006/main">
              <a:ext uri="{FF2B5EF4-FFF2-40B4-BE49-F238E27FC236}">
                <a16:creationId xmlns:a16="http://schemas.microsoft.com/office/drawing/2014/main" id="{0A5700AE-FAB6-4E15-AE20-CFF90680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860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28" name="connector">
            <a:extLst xmlns:a="http://schemas.openxmlformats.org/drawingml/2006/main">
              <a:ext uri="{FF2B5EF4-FFF2-40B4-BE49-F238E27FC236}">
                <a16:creationId xmlns:a16="http://schemas.microsoft.com/office/drawing/2014/main" id="{427FCF9E-043A-455B-B677-932A4AAF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434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6A07798-C2C9-4316-A384-357AC195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858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仿真在决策边界反复调用策略；前端不自行推进电梯物理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176BD540-30E4-4EDB-B342-8BFEFB17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上排为输入与决策链，下排为结果交付链；计算worker不写SQLite，协调器维护索引。</a:t>
            </a:r>
          </a:p>
        </p:txBody>
      </p:sp>
    </p:spTree>
    <p:extLst>
      <p:ext uri="{BB962C8B-B14F-4D97-AF65-F5344CB8AC3E}">
        <p14:creationId xmlns:p14="http://schemas.microsoft.com/office/powerpoint/2010/main" val="60702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7492161-5490-4751-9FC7-0CB61D78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91C55B-8709-448D-BCB9-B773E46C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MODELING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4881CD9-546E-4E1D-A24B-D9EFC173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六项后果进入网络，权衡仍由 PPO 学习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F031457-BC2C-4F93-8CFC-76E3AE6C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5FC8B7F-EF8A-48B3-B7A7-33AAC18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0108C23-05BF-46EA-91F3-9113F772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89A777-7284-419D-9C6C-319921E9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1E773DB-2C89-44E6-B9C1-DB0F9806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193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新客接人时间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D07779-CCA4-4F06-9DF6-6EF2F99F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E6F3AF1-4101-443D-954D-863952EF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新客送达时间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CBDCC1-D342-4716-AE6E-B086929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A98F2F-44F3-4CAC-A6E4-07643FAC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480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新增运行距离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F679622-F27A-4342-96AD-0F417E57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26AA4A5-DD2F-4CE2-A927-D1124D0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已有任务接人延误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6F0728-E16F-4B07-8192-875167F2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4A54998-B280-432F-B120-698FDECC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已有任务送达延误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B04CD31-0255-491F-8B74-0FF4A5B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2387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1C5D111-7679-46F7-96EA-B577705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095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路线延长</a:t>
            </a:r>
          </a:p>
        </p:txBody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074F736F-46D1-4304-B9B9-5E244CA2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5429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E76EBC-8F62-4882-B7DB-0D22827C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128 + 96 + 6 = 230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AC930A8-9878-47D6-9C8B-A6C2C6D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480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电梯编码     上下文     后果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AE51700-599A-4127-99BE-8DAB1BFE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9570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230 → 128 → 1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74D9EEE-6257-4871-AA14-C9E74A3A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4857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共享派梯评分 → 合法mask → argmax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213017B-7A4F-4708-9C23-CB6AE238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57800"/>
            <a:ext cx="5334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+768 参数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6F95AED2-CFFA-4228-8B8B-8F601E8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仅使用已到达任务；没有固定候选系数、教师动作、行为克隆或规则兜底。模型共427399参数。</a:t>
            </a:r>
          </a:p>
        </p:txBody>
      </p:sp>
    </p:spTree>
    <p:extLst>
      <p:ext uri="{BB962C8B-B14F-4D97-AF65-F5344CB8AC3E}">
        <p14:creationId xmlns:p14="http://schemas.microsoft.com/office/powerpoint/2010/main" val="563077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42803EC-6440-4AB6-BFFF-4211866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ED42D0-9485-4CD7-9C4C-8C44DB30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TRAINING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95470EC-3374-4EDC-B085-995CDCA1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事件时间、完整服务与开发选模贯穿训练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A2DE5D-8F15-445F-84C2-27192A9B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266D059-603E-4EB7-A56A-119901D7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9EAFCCBB-DE61-499E-841B-0B70F7CB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module">
            <a:extLst xmlns:a="http://schemas.openxmlformats.org/drawingml/2006/main">
              <a:ext uri="{FF2B5EF4-FFF2-40B4-BE49-F238E27FC236}">
                <a16:creationId xmlns:a16="http://schemas.microsoft.com/office/drawing/2014/main" id="{1F8B76DF-AF6D-4954-BB35-635F24D8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8" name="module-name">
            <a:extLst xmlns:a="http://schemas.openxmlformats.org/drawingml/2006/main">
              <a:ext uri="{FF2B5EF4-FFF2-40B4-BE49-F238E27FC236}">
                <a16:creationId xmlns:a16="http://schemas.microsoft.com/office/drawing/2014/main" id="{7275F67C-7740-4ECA-996E-F719DC1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环境采样</a:t>
            </a:r>
          </a:p>
        </p:txBody>
      </p:sp>
      <p:sp>
        <p:nvSpPr>
          <p:cNvPr id="9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7931341C-5CB2-472B-9EBF-85E5563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4环境 × 128步</a:t>
            </a:r>
          </a:p>
        </p:txBody>
      </p:sp>
      <p:sp>
        <p:nvSpPr>
          <p:cNvPr id="10" name="connector">
            <a:extLst xmlns:a="http://schemas.openxmlformats.org/drawingml/2006/main">
              <a:ext uri="{FF2B5EF4-FFF2-40B4-BE49-F238E27FC236}">
                <a16:creationId xmlns:a16="http://schemas.microsoft.com/office/drawing/2014/main" id="{D4000E2E-8484-44C1-965A-EDEE906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7655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1" name="module">
            <a:extLst xmlns:a="http://schemas.openxmlformats.org/drawingml/2006/main">
              <a:ext uri="{FF2B5EF4-FFF2-40B4-BE49-F238E27FC236}">
                <a16:creationId xmlns:a16="http://schemas.microsoft.com/office/drawing/2014/main" id="{6C072511-B88A-4394-A8A7-6BA93AF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2" name="module-name">
            <a:extLst xmlns:a="http://schemas.openxmlformats.org/drawingml/2006/main">
              <a:ext uri="{FF2B5EF4-FFF2-40B4-BE49-F238E27FC236}">
                <a16:creationId xmlns:a16="http://schemas.microsoft.com/office/drawing/2014/main" id="{7CC3413F-9790-457B-9899-2D490F9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时间GAE</a:t>
            </a:r>
          </a:p>
        </p:txBody>
      </p:sp>
      <p:sp>
        <p:nvSpPr>
          <p:cNvPr id="13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69DD9F69-89BF-47CC-80F0-B195E5F9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按Δt折扣</a:t>
            </a:r>
          </a:p>
        </p:txBody>
      </p:sp>
      <p:sp>
        <p:nvSpPr>
          <p:cNvPr id="14" name="connector">
            <a:extLst xmlns:a="http://schemas.openxmlformats.org/drawingml/2006/main">
              <a:ext uri="{FF2B5EF4-FFF2-40B4-BE49-F238E27FC236}">
                <a16:creationId xmlns:a16="http://schemas.microsoft.com/office/drawing/2014/main" id="{E472C230-C3CA-4EBD-93DE-DA354685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7655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5" name="module">
            <a:extLst xmlns:a="http://schemas.openxmlformats.org/drawingml/2006/main">
              <a:ext uri="{FF2B5EF4-FFF2-40B4-BE49-F238E27FC236}">
                <a16:creationId xmlns:a16="http://schemas.microsoft.com/office/drawing/2014/main" id="{D8F7D051-8E18-42C4-9915-860FAF0C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6" name="module-name">
            <a:extLst xmlns:a="http://schemas.openxmlformats.org/drawingml/2006/main">
              <a:ext uri="{FF2B5EF4-FFF2-40B4-BE49-F238E27FC236}">
                <a16:creationId xmlns:a16="http://schemas.microsoft.com/office/drawing/2014/main" id="{3BE4CC34-4E58-405A-91CA-6C5A0C92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PPO更新</a:t>
            </a:r>
          </a:p>
        </p:txBody>
      </p:sp>
      <p:sp>
        <p:nvSpPr>
          <p:cNvPr id="17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37816CA5-11E3-453A-A102-A6BB65EA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clip=0.2 · 4 epoch</a:t>
            </a:r>
          </a:p>
        </p:txBody>
      </p:sp>
      <p:sp>
        <p:nvSpPr>
          <p:cNvPr id="18" name="connector">
            <a:extLst xmlns:a="http://schemas.openxmlformats.org/drawingml/2006/main">
              <a:ext uri="{FF2B5EF4-FFF2-40B4-BE49-F238E27FC236}">
                <a16:creationId xmlns:a16="http://schemas.microsoft.com/office/drawing/2014/main" id="{5C019422-45AF-4EB7-BBFA-14AFA3BA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1905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9" name="module">
            <a:extLst xmlns:a="http://schemas.openxmlformats.org/drawingml/2006/main">
              <a:ext uri="{FF2B5EF4-FFF2-40B4-BE49-F238E27FC236}">
                <a16:creationId xmlns:a16="http://schemas.microsoft.com/office/drawing/2014/main" id="{5E7CA161-F418-49E8-8EE0-7EBFFDD1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514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20" name="module-name">
            <a:extLst xmlns:a="http://schemas.openxmlformats.org/drawingml/2006/main">
              <a:ext uri="{FF2B5EF4-FFF2-40B4-BE49-F238E27FC236}">
                <a16:creationId xmlns:a16="http://schemas.microsoft.com/office/drawing/2014/main" id="{66C7A72E-E79A-4AA8-ADAF-12AA0BC6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62200"/>
            <a:ext cx="2171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开发选模</a:t>
            </a:r>
          </a:p>
        </p:txBody>
      </p:sp>
      <p:sp>
        <p:nvSpPr>
          <p:cNvPr id="21" name="module-detail">
            <a:extLst xmlns:a="http://schemas.openxmlformats.org/drawingml/2006/main">
              <a:ext uri="{FF2B5EF4-FFF2-40B4-BE49-F238E27FC236}">
                <a16:creationId xmlns:a16="http://schemas.microsoft.com/office/drawing/2014/main" id="{2712C124-8DD1-4672-8468-89D4C8D7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21717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先完整与约束，再等待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19FB7BE-B31A-4741-8660-3C5DE167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668000" cy="447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原课程权重 → 六列补零迁移 → 200000步微调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21679F5-7532-4677-A192-8504B99B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提交801：选中143360步；802/803共同保留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BCC7CC4-1B92-4D49-90C9-5668C25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66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gamma(Δt)=0.99^(Δt/10)；lambda(Δt)=0.95^(Δt/10)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546FF563-C6AC-4567-B1D7-6B19AEE9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三个独立微调seed共享同一已训练初始化，不是独立预训练；本次提交整理不重新训练。</a:t>
            </a:r>
          </a:p>
        </p:txBody>
      </p:sp>
    </p:spTree>
    <p:extLst>
      <p:ext uri="{BB962C8B-B14F-4D97-AF65-F5344CB8AC3E}">
        <p14:creationId xmlns:p14="http://schemas.microsoft.com/office/powerpoint/2010/main" val="54383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486D1DA-00D5-4E61-B6CE-D04CFD0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E232CFC-87A0-496F-A1C9-FDEAD8F9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DEVELOPMENT EVIDENCE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F6186661-E8B6-4753-9BCC-27A7BF0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新增输入让三seed平均等待下降43.46%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E0947-4151-486E-AAC1-79B780C2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D697CCD-A58A-4A23-9409-CC7ACA1C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F0531982-6F1C-42D2-99B7-CCF58B99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32AC22-9B95-4FA6-808D-98B1F15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ETA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C9BFC388-5733-4224-8BBA-D247880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76450"/>
            <a:ext cx="6976994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CCE966-6838-4332-9FB6-F7D44F5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47875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35.88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1DE0AF-923C-4B31-8FF9-961E7AB6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ETA-Zone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C7AFAE31-E408-4F33-90AD-89194C8C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657475"/>
            <a:ext cx="504837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AA884D-9E7C-4762-B27A-4EA0C4B1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2890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25.96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BFE2E13-EB25-4B3E-A4CA-6CBD246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轮询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E2A8772B-55DB-4365-B69A-10DC0578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38500"/>
            <a:ext cx="4985459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77A"/>
          </a:solidFill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7145F77-BA30-4CD1-85AD-7A15F898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09925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25.64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C8FB77C-EB53-45B6-994D-D93460E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原PPO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45960E62-9F9B-45BC-B730-D337B532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819525"/>
            <a:ext cx="4745621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B7FB152-0E7F-4FDC-A9D6-47508144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79095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78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78132"/>
                </a:solidFill>
                <a:latin typeface="PingFang SC"/>
                <a:ea typeface="PingFang SC"/>
                <a:cs typeface="PingFang SC"/>
              </a:rPr>
              <a:t>24.40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FF63BB-4513-4134-AC0F-6DC82EE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后果PPO · 3 seed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ECEAC506-5219-4978-B425-4CFC2AEC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400550"/>
            <a:ext cx="268318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8"/>
          </a:solidFill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BE34150-E8AF-42E7-9B6A-30A14375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71975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13.80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C4DBD7B-D138-4B6D-896A-16526F8D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38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固定规则 · 非RL</a:t>
            </a:r>
          </a:p>
        </p:txBody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894CB633-9AE1-462E-82A7-5427FE6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981575"/>
            <a:ext cx="220811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AC9D"/>
          </a:solidFill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91D24ED-A2C0-41A6-B09F-3AB2945E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953000"/>
            <a:ext cx="123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EAC9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9EAC9D"/>
                </a:solidFill>
                <a:latin typeface="PingFang SC"/>
                <a:ea typeface="PingFang SC"/>
                <a:cs typeface="PingFang SC"/>
              </a:rPr>
              <a:t>11.35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6D6D292D-926E-4DDD-A487-0664CCE8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平均等待/秒，越低越好；同一135组开发客流，参与选模。原数据：reports/candidate-ppo。</a:t>
            </a:r>
          </a:p>
        </p:txBody>
      </p:sp>
    </p:spTree>
    <p:extLst>
      <p:ext uri="{BB962C8B-B14F-4D97-AF65-F5344CB8AC3E}">
        <p14:creationId xmlns:p14="http://schemas.microsoft.com/office/powerpoint/2010/main" val="5164739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8DD047-9C72-4AC9-83F4-FE438B1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78A1A3-ADD5-4E67-8FE3-C0ABA090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DEPLOYED CHECKPOINT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9236F96-0DB2-4526-A591-BF4D49D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提交801降低等待，同时接近 ETA 的运行距离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8A0646-BCCA-4B0F-875C-FECE7C30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2E7AE07-4237-4A6F-99F5-02666F4E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8435513-D71C-45E5-8AA8-6F999259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2BDD237-D316-4330-A03E-674B50D8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333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13.1399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56ECB07-1E69-4C51-B7D5-A10AFE7A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平均等待 / 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5C148C4-336B-46E4-8FA3-B71E2B7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3333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33.0974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574EF0-D64C-445E-8F71-A9EC9EC1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76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P95等待 / 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408D42C-0C1A-4AE2-B960-9DF6A37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33375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39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147.9481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F44DE5-4E38-49C7-BDC8-DD5B0C30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运行距离 / 层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347176BF-DE89-4AD3-9F9A-644657FA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C103059-0D08-47D1-8995-9A01E70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ETA参照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B5CB80-A7B2-487E-8B5B-1D98E052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10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35.8772秒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A73829D-19F2-49B3-A3A2-650AFE7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910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132.7466秒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6DA10EE-0862-4747-A898-4BB30A3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91025"/>
            <a:ext cx="2476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147.1185层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CEB1C6-8F2E-4CA4-B6E9-266C907B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06125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801距离相对ETA仅 +0.56%；这是单模型开发结果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7086BF66-1E5F-42C3-B184-BBFB79F1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单801与三seed均值分别报告；开发可行且等待最低的既有检查点用于演示，不在新测试上挑模型。</a:t>
            </a:r>
          </a:p>
        </p:txBody>
      </p:sp>
    </p:spTree>
    <p:extLst>
      <p:ext uri="{BB962C8B-B14F-4D97-AF65-F5344CB8AC3E}">
        <p14:creationId xmlns:p14="http://schemas.microsoft.com/office/powerpoint/2010/main" val="1689750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2C4C85-4CC3-4DB3-ADE0-375211C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D2FC796-A5F4-428C-BDDD-4E01BDBB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LIVE PRODUCT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C047A3F-9243-4316-946F-1E145E6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从真实输入到完整服务，页面与归档一致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A804F0-BF6C-423A-AAE0-C133C280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A354A9B-613B-4A0B-8F40-C375AC3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3F9169E5-7BD3-4854-A36A-B56FF940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7" name="06_井道局部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357811a8a44bb"/>
          <a:stretch xmlns:a="http://schemas.openxmlformats.org/drawingml/2006/main"/>
        </p:blipFill>
        <p:spPr>
          <a:xfrm xmlns:a="http://schemas.openxmlformats.org/drawingml/2006/main">
            <a:off x="6406348" y="1885950"/>
            <a:ext cx="4379928" cy="376237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25A299-8171-43F2-9C22-159D69EB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76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26 / 26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ED8F09-DE5F-48F2-9853-7CA965A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位乘客完成服务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54E473B-26C8-4E17-A616-A2D107C5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76250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10.4068 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A7C13C-AE9D-473D-A3D4-F0CD1FF0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单次平均等待 · 距离109层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D0812-91C3-4D43-80FD-2DF9C17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14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配置 → 运行 → 暂停观察 → 导出</a:t>
            </a:r>
          </a:p>
        </p:txBody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0C848B72-7CEA-4AC0-8BCB-C7A0416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12F4E、早高峰、12人/分钟、120秒、seed9001；历史演示输入，不代替研究汇总或盲测。</a:t>
            </a:r>
          </a:p>
        </p:txBody>
      </p:sp>
    </p:spTree>
    <p:extLst>
      <p:ext uri="{BB962C8B-B14F-4D97-AF65-F5344CB8AC3E}">
        <p14:creationId xmlns:p14="http://schemas.microsoft.com/office/powerpoint/2010/main" val="1458577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56B1E5-AA4C-4C83-AF81-4BC3F9B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6B72BF1-9155-4110-B914-F53162E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ABLATION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AE2A044-BCAF-42DC-BE1B-C418AD0E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输入置零后性能退化，网络实际使用了新信息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EF0DF0F-B7DD-412D-B659-60063054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9D9862F-F2DB-4C59-A7DB-F0F9F752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199E9791-4599-4116-8B92-18F9206A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7" name="08_训练曲线局部.pn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cad38740f4874"/>
          <a:stretch xmlns:a="http://schemas.openxmlformats.org/drawingml/2006/main"/>
        </p:blipFill>
        <p:spPr>
          <a:xfrm xmlns:a="http://schemas.openxmlformats.org/drawingml/2006/main">
            <a:off x="636396" y="2286000"/>
            <a:ext cx="6328157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0E20DE-0436-44F2-82C1-40BCC999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40481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同一模型 · 等待/秒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BDD2E4F-D73B-4DD4-969C-EA78C90C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47975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801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E79D259-911B-46AA-B32B-4C40FDF4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47975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13.14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3581D5-A831-45AE-96BC-7753BE25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47975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52324A1-F237-4B91-81E6-5A227B3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47975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rPr>
              <a:t>22.71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872A58-803F-419B-9D9D-2BBE6240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802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6E06A2-396F-4A3C-A547-392EAB7A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14.92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884669F-9A0F-4398-895F-02CC9B43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29D60B-A472-43E9-938C-B94483AF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62350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rPr>
              <a:t>24.05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A7D59BF-AF49-43BC-BDE5-C4ABDD9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76725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803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4582E7-A448-4B9A-91B4-7DC6793A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76725"/>
            <a:ext cx="123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13.33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984B7DC-849A-4930-A9CB-302CFAF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76725"/>
            <a:ext cx="428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0543AF3-AEE4-4411-B648-A33016B5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76725"/>
            <a:ext cx="133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C35E42"/>
                </a:solidFill>
                <a:latin typeface="PingFang SC"/>
                <a:ea typeface="PingFang SC"/>
                <a:cs typeface="PingFang SC"/>
              </a:rPr>
              <a:t>23.18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2618B5-9F7D-4DE2-B18D-9931E212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真实训练曲线 · 801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2BFF0685-DDE6-4627-8FD8-B778208D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置零为分布外诊断，不是独立算法成绩；曲线来自随仓库提供的updates.csv与validation.csv。</a:t>
            </a:r>
          </a:p>
        </p:txBody>
      </p:sp>
    </p:spTree>
    <p:extLst>
      <p:ext uri="{BB962C8B-B14F-4D97-AF65-F5344CB8AC3E}">
        <p14:creationId xmlns:p14="http://schemas.microsoft.com/office/powerpoint/2010/main" val="1426486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6CE03C-908E-4D07-87F9-32C3F1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9FF73A-3A99-4596-85F6-38A55A22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VERIFICATION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3797BAC-0E83-4FF9-B47F-D378F236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软件验证与原始重算共同支撑可复现交付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392531-5382-41E3-B681-1DF1FEAE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F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45C54A0-40B4-4E05-998B-484E1E6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7428DD3A-3D99-49B7-8FAF-B4C5E755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16A33A5-CB59-44CD-80AF-D0F52147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90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6AAB590-F708-4BE2-9FCF-2B2C194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Python测试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679575-3C3A-4F52-A406-C46D108B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13537F-4825-4A21-9674-881BD8F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前端单元测试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DD0094C-34F5-4E6A-8CF3-1FF16C3D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33337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defRPr>
            </a:pPr>
            <a:r>
              <a:rPr sz="5550" b="1">
                <a:solidFill>
                  <a:srgbClr val="087F78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4ECAEEA-C6B8-49BA-A365-5FC5B56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528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浏览器端到端测试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7D585BD4-A34B-45AF-896F-7B875D20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4"/>
          </a:solidFill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A9DFF7E-A2CB-43E0-BBDD-625D402F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858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3139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43139"/>
                </a:solidFill>
                <a:latin typeface="PingFang SC"/>
                <a:ea typeface="PingFang SC"/>
                <a:cs typeface="PingFang SC"/>
              </a:rPr>
              <a:t>1892 次运行 / 61813 条乘客记录独立重算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8DAEBCC-4078-4A48-833D-CE31248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858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SHA验证 · 干净目录安装 · 幂等 · 拒绝覆盖改动文件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5CC54E00-8320-4BA3-87F5-F50B5075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4777A"/>
                </a:solidFill>
                <a:latin typeface="PingFang SC"/>
                <a:ea typeface="PingFang SC"/>
                <a:cs typeface="PingFang SC"/>
              </a:rPr>
              <a:t>当前质量10/10通过；研究审计不增加独立客流样本数，远程Linux CI尚未执行。</a:t>
            </a:r>
          </a:p>
        </p:txBody>
      </p:sp>
    </p:spTree>
    <p:extLst>
      <p:ext uri="{BB962C8B-B14F-4D97-AF65-F5344CB8AC3E}">
        <p14:creationId xmlns:p14="http://schemas.microsoft.com/office/powerpoint/2010/main" val="10354479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31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B522E28-17DD-4418-B4A1-DFCD0F44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6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132"/>
          </a:solidFill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860C0F-46B6-4821-8216-D035F10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HANDOVER &amp; LIMITS</a:t>
            </a:r>
          </a:p>
        </p:txBody>
      </p:sp>
      <p:sp>
        <p:nvSpPr>
          <p:cNvPr id="3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7115453-10C1-4F21-9B7F-DD051077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34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冻结课程交付，同时保留研究边界</a:t>
            </a: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EB83920-8E1E-4047-BA13-26B0861B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66"/>
          </a:solidFill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DC9436-A6F3-40F0-94FA-EFFFC64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67475"/>
            <a:ext cx="619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多电梯智能群控 · 课程冻结提交版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5436EED1-6637-41A7-864C-C2209587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7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5CA08B-3B39-439D-95BC-334452A2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143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dev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E0BE6D-02C7-43E3-A781-4C94E743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bc0fef6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FC99253-C74C-4B42-801E-31516C6A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000625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原开发源码 + 12份注册模型</a:t>
            </a:r>
          </a:p>
          <a:p xmlns:a="http://schemas.openxmlformats.org/drawingml/2006/main">
            <a:pPr>
              <a:def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原始档案清单；10GB数据留本机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AC0A2AF-6C10-4D02-8C9B-E84642B7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4572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main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7455E8-1B59-4227-A3EF-0F419E8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76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源程序 / 模型 / 两页需求 / 报告 / PPT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E1E5CE8-7F66-41DD-A293-A97CFE40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5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B76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0B76C"/>
                </a:solidFill>
                <a:latin typeface="PingFang SC"/>
                <a:ea typeface="PingFang SC"/>
                <a:cs typeface="PingFang SC"/>
              </a:rPr>
              <a:t>课程交付已认可；研究严格门槛尚未全过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2DC646-AC67-4CD1-831A-90A3DDCE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B9D0D0"/>
                </a:solidFill>
                <a:latin typeface="PingFang SC"/>
                <a:ea typeface="PingFang SC"/>
                <a:cs typeface="PingFang SC"/>
              </a:rPr>
              <a:t>规则参照仍更快；803距离超限；确认与最终未打开</a:t>
            </a:r>
          </a:p>
        </p:txBody>
      </p:sp>
    </p:spTree>
    <p:extLst>
      <p:ext uri="{BB962C8B-B14F-4D97-AF65-F5344CB8AC3E}">
        <p14:creationId xmlns:p14="http://schemas.microsoft.com/office/powerpoint/2010/main" val="17079158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2026-10-24T10:12:11.2880000Z</dcterms:created>
  <dcterms:modified xsi:type="dcterms:W3CDTF">2026-10-24T10:12:11.2880000Z</dcterms:modified>
</coreProperties>
</file>